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Hubot Sans"/>
      <p:regular r:id="rId19"/>
    </p:embeddedFont>
    <p:embeddedFont>
      <p:font typeface="Hubot Sans"/>
      <p:regular r:id="rId20"/>
    </p:embeddedFont>
    <p:embeddedFont>
      <p:font typeface="Roboto Condensed"/>
      <p:regular r:id="rId21"/>
    </p:embeddedFont>
    <p:embeddedFont>
      <p:font typeface="Roboto Condensed"/>
      <p:regular r:id="rId22"/>
    </p:embeddedFont>
    <p:embeddedFont>
      <p:font typeface="Roboto Condensed"/>
      <p:regular r:id="rId23"/>
    </p:embeddedFont>
    <p:embeddedFont>
      <p:font typeface="Roboto Condensed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53609"/>
            <a:ext cx="265747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YNOV CAMPUS — B1 INFORMATIQUE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93790" y="17025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MINISOC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502098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INFRASTRUCTURE SÉCURISÉE AVEC DÉTECTION D'INTRUSION EN TEMPS RÉEL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93790" y="411813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Florence Kore-Belle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Marly Dedjiho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Sarah Bouhadra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46199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Projet UF INFRA | Avril 2026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6080046"/>
            <a:ext cx="7556421" cy="963811"/>
          </a:xfrm>
          <a:prstGeom prst="roundRect">
            <a:avLst>
              <a:gd name="adj" fmla="val 3530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6424136"/>
            <a:ext cx="283488" cy="2268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30906" y="6363533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CLIENT : STARTUPX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18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SOMMAIRE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3424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89290"/>
            <a:ext cx="4196358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063597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CONTEXTE &amp; PROBLÉMATIQUE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6962" y="253424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889290"/>
            <a:ext cx="4196358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8" name="Text 6"/>
          <p:cNvSpPr/>
          <p:nvPr/>
        </p:nvSpPr>
        <p:spPr>
          <a:xfrm>
            <a:off x="5216962" y="3063597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SOLUTION RETENUE — ARCHITECTURE 2 RÉSEAUX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40133" y="253424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2889290"/>
            <a:ext cx="4196358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1" name="Text 9"/>
          <p:cNvSpPr/>
          <p:nvPr/>
        </p:nvSpPr>
        <p:spPr>
          <a:xfrm>
            <a:off x="9640133" y="3063597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MACHINES VIRTUELLES &amp; SERVICES DÉPLOYÉS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4169093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524137"/>
            <a:ext cx="4196358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4698444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SÉCURISATION — UFW, FAIL2BAN, SSH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16962" y="4169093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5216962" y="4524137"/>
            <a:ext cx="4196358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7" name="Text 15"/>
          <p:cNvSpPr/>
          <p:nvPr/>
        </p:nvSpPr>
        <p:spPr>
          <a:xfrm>
            <a:off x="5216962" y="4698444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SCRIPTS D'AUTOMATISATION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40133" y="4169093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06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9640133" y="4524137"/>
            <a:ext cx="4196358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20" name="Text 18"/>
          <p:cNvSpPr/>
          <p:nvPr/>
        </p:nvSpPr>
        <p:spPr>
          <a:xfrm>
            <a:off x="9640133" y="4698444"/>
            <a:ext cx="35605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DÉMONSTRATION LIVE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93790" y="580394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07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93790" y="6158984"/>
            <a:ext cx="13042702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23" name="Text 21"/>
          <p:cNvSpPr/>
          <p:nvPr/>
        </p:nvSpPr>
        <p:spPr>
          <a:xfrm>
            <a:off x="793790" y="6333292"/>
            <a:ext cx="54307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BILAN &amp; RÉPARTITION DU TRAVAIL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55583"/>
            <a:ext cx="2498169" cy="426244"/>
          </a:xfrm>
          <a:prstGeom prst="roundRect">
            <a:avLst>
              <a:gd name="adj" fmla="val 6386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923568"/>
            <a:ext cx="222599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637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CONTEXTE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2344936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StartupX est une startup en forte croissance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Équipe de développeurs, commerciaux et administratifs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Multiplication des tentatives d'accès non autorisés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Besoin de sécuriser l'infrastructure sans bloquer la productivité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17637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PROBLÉMATIQUE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9683" y="2373273"/>
            <a:ext cx="590454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Comment protéger les ressources internes contre des attaquants externes, tout en garantissant la continuité de service pour les employés, de manière automatisée ?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599521" y="2373273"/>
            <a:ext cx="30480" cy="1088708"/>
          </a:xfrm>
          <a:prstGeom prst="rect">
            <a:avLst/>
          </a:prstGeom>
          <a:solidFill>
            <a:srgbClr val="1E1E1A"/>
          </a:solidFill>
          <a:ln/>
        </p:spPr>
      </p:sp>
      <p:sp>
        <p:nvSpPr>
          <p:cNvPr id="9" name="Shape 7"/>
          <p:cNvSpPr/>
          <p:nvPr/>
        </p:nvSpPr>
        <p:spPr>
          <a:xfrm>
            <a:off x="7599521" y="3717131"/>
            <a:ext cx="6244709" cy="963811"/>
          </a:xfrm>
          <a:prstGeom prst="roundRect">
            <a:avLst>
              <a:gd name="adj" fmla="val 3530"/>
            </a:avLst>
          </a:prstGeom>
          <a:solidFill>
            <a:srgbClr val="FCF2B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6335" y="4061222"/>
            <a:ext cx="283488" cy="2268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36637" y="4000619"/>
            <a:ext cx="52807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Aucun système de détection d'intrusion en place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599521" y="4936093"/>
            <a:ext cx="6244709" cy="963811"/>
          </a:xfrm>
          <a:prstGeom prst="roundRect">
            <a:avLst>
              <a:gd name="adj" fmla="val 3530"/>
            </a:avLst>
          </a:prstGeom>
          <a:solidFill>
            <a:srgbClr val="FCF2B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35" y="5280184"/>
            <a:ext cx="283488" cy="22681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36637" y="5219581"/>
            <a:ext cx="52807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Réseau non segmenté — une intrusion compromet tout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599521" y="6155055"/>
            <a:ext cx="6244709" cy="963811"/>
          </a:xfrm>
          <a:prstGeom prst="roundRect">
            <a:avLst>
              <a:gd name="adj" fmla="val 3530"/>
            </a:avLst>
          </a:prstGeom>
          <a:solidFill>
            <a:srgbClr val="FCF2B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35" y="6499146"/>
            <a:ext cx="283488" cy="2268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6637" y="6438543"/>
            <a:ext cx="52807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Pas de traçabilité des incidents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6858"/>
            <a:ext cx="568297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SOLUTION RETENUE — ARCHITECTURE 2 RÉSEAUX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793790" y="2111454"/>
            <a:ext cx="335482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ZONE LAN — RÉSEAU INTERNE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2504718"/>
            <a:ext cx="40703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192.168.100.0/24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86313"/>
            <a:ext cx="1950720" cy="1950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980503"/>
            <a:ext cx="407039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client-user</a:t>
            </a:r>
            <a:endParaRPr lang="en-US" sz="1300" dirty="0"/>
          </a:p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192.168.100.10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3790" y="5571530"/>
            <a:ext cx="4070390" cy="1086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Accès intranet (port 80)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Monitoring Netdata (port 19999)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DNS et DHCP internes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Jamais exposé au WAN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851" y="2127409"/>
            <a:ext cx="1950720" cy="1950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86851" y="4221599"/>
            <a:ext cx="407039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srv-main</a:t>
            </a:r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.100.2 / 10.0.0.2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286851" y="4841319"/>
            <a:ext cx="4070390" cy="607933"/>
          </a:xfrm>
          <a:prstGeom prst="roundRect">
            <a:avLst>
              <a:gd name="adj" fmla="val 4198"/>
            </a:avLst>
          </a:prstGeom>
          <a:solidFill>
            <a:srgbClr val="FFB3B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873" y="5080278"/>
            <a:ext cx="212646" cy="1700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39539" y="5011341"/>
            <a:ext cx="334768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BLOQUÉ UFW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9779913" y="2111454"/>
            <a:ext cx="386012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ZONE WAN — INTERFACE EXPOSÉE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9779913" y="2504718"/>
            <a:ext cx="40703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10.0.0.0/24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913" y="2886313"/>
            <a:ext cx="1950720" cy="19507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779913" y="4980503"/>
            <a:ext cx="407039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kali-attack</a:t>
            </a:r>
            <a:endParaRPr lang="en-US" sz="1300" dirty="0"/>
          </a:p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10.0.0.3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9779913" y="5571530"/>
            <a:ext cx="4070390" cy="1086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SSH exposé (port 22)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HTTP exposé (port 80)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Fail2ban surveille en permanence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Bannissement automatique si attaque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8967"/>
            <a:ext cx="840355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MACHINES VIRTUELLES &amp; SERVICES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25385"/>
            <a:ext cx="1950720" cy="1950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65697" y="421957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SRV-MAIN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93790" y="4612838"/>
            <a:ext cx="40703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Ubuntu Server 24.04 LTS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3790" y="4965740"/>
            <a:ext cx="407039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LAN: 192.168.100.2</a:t>
            </a:r>
            <a:endParaRPr lang="en-US" sz="1300" dirty="0"/>
          </a:p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WAN: 10.0.0.2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3790" y="5556766"/>
            <a:ext cx="4070390" cy="1369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DHCP — .10 à .50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DNS bind9 — startupx.local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Apache2 — Intranet port 80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UFW + Fail2ban + Netdata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SSH — Administration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851" y="2125385"/>
            <a:ext cx="1950720" cy="1950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58758" y="421957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CLIENT-USER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5286851" y="4612838"/>
            <a:ext cx="40703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Ubuntu Desktop 24.04 LTS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286851" y="4965740"/>
            <a:ext cx="40703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LAN: 192.168.100.10 (DHCP)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286851" y="5318641"/>
            <a:ext cx="4070390" cy="1086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Firefox — Intranet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Netdata — Monitoring live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Poste employé légitime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Accès LAN uniquement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913" y="2125385"/>
            <a:ext cx="1950720" cy="19507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51820" y="421957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KALI-ATTACK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9779913" y="4612838"/>
            <a:ext cx="40703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Kali Linux 2024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779913" y="4965740"/>
            <a:ext cx="40703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WAN: 10.0.0.3 (statique)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9779913" y="5318641"/>
            <a:ext cx="4070390" cy="1086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nmap — Scan réseau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hydra — Brute-force SSH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Machine attaquante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Accès WAN uniquement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7884"/>
            <a:ext cx="119444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SÉCURISATION DE L'INFRASTRUCTURE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30291"/>
            <a:ext cx="6407944" cy="2252305"/>
          </a:xfrm>
          <a:prstGeom prst="roundRect">
            <a:avLst>
              <a:gd name="adj" fmla="val 1511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587585"/>
            <a:ext cx="40105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SEGMENTATION LAN/WAN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078004"/>
            <a:ext cx="589335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 réseaux Host-only distincts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Kali sur WAN — jamais sur LAN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Isolation prouvée par ping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330291"/>
            <a:ext cx="6408063" cy="2252305"/>
          </a:xfrm>
          <a:prstGeom prst="roundRect">
            <a:avLst>
              <a:gd name="adj" fmla="val 1511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25875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UFW — PARE-FEU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5842" y="3078004"/>
            <a:ext cx="5893475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Règles par interface (enp0s8/enp0s9)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LAN : 5 ports autorisés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WAN : SSH + HTTP uniquement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2252305"/>
          </a:xfrm>
          <a:prstGeom prst="roundRect">
            <a:avLst>
              <a:gd name="adj" fmla="val 1511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FAIL2BAN — IDS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084" y="5557123"/>
            <a:ext cx="589335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Surveille /var/log/auth.log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 échecs en 300s → ban 5min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Bannissement 100% automatique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2252305"/>
          </a:xfrm>
          <a:prstGeom prst="roundRect">
            <a:avLst>
              <a:gd name="adj" fmla="val 1511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SSH HARDENING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5557123"/>
            <a:ext cx="5893475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PermitRootLogin no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MaxAuthTries 3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Cohérent avec Fail2ban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5335"/>
            <a:ext cx="91810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SCRIPTS D'AUTOMATISATION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37742"/>
            <a:ext cx="4196358" cy="3919299"/>
          </a:xfrm>
          <a:prstGeom prst="roundRect">
            <a:avLst>
              <a:gd name="adj" fmla="val 868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195036"/>
            <a:ext cx="32190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CHECK-SERVICES.SH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2685455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Vérifie l'état de tous les services en un coup d'oeil avec indicateurs visuels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51084" y="3547348"/>
            <a:ext cx="3681770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7 services surveillés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Affiche IPs LAN/WAN en direct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Résumé système (RAM, disque, uptime)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IPs bannies Fail2ban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1937742"/>
            <a:ext cx="4196358" cy="3919299"/>
          </a:xfrm>
          <a:prstGeom prst="roundRect">
            <a:avLst>
              <a:gd name="adj" fmla="val 868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74256" y="2195036"/>
            <a:ext cx="36030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RAPPORT-INCIDENT.SH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74256" y="268545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Génère un rapport horodaté complet dans /var/log/rapports/ après chaque incident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474256" y="3910251"/>
            <a:ext cx="3681770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Statut de tous les services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IPs bannies + tentatives SSH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Connexions SSH réussies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Infos système complètes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1937742"/>
            <a:ext cx="4196358" cy="3919299"/>
          </a:xfrm>
          <a:prstGeom prst="roundRect">
            <a:avLst>
              <a:gd name="adj" fmla="val 868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97427" y="2195036"/>
            <a:ext cx="28921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MONITOR-LIVE.SH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97427" y="2685455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Surveillance SSH en temps réel — alertes formatées et colorées en direct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897427" y="3547348"/>
            <a:ext cx="3681770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[ALERTE] tentative échouée en direct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[BAN] IP bannie automatiquement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Lit auth.log + fail2ban.log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Outil principal de démo live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6112193"/>
            <a:ext cx="13042821" cy="1341953"/>
          </a:xfrm>
          <a:prstGeom prst="roundRect">
            <a:avLst>
              <a:gd name="adj" fmla="val 2535"/>
            </a:avLst>
          </a:prstGeom>
          <a:solidFill>
            <a:srgbClr val="DBDBD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456283"/>
            <a:ext cx="283488" cy="2268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0906" y="6395680"/>
            <a:ext cx="12078891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Cron : rapport-incident.sh s'exécute automatiquement toutes les heures — 0 * * * * /usr/local/bin/rapport-incident.sh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6038"/>
            <a:ext cx="6055995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DÉMONSTRATION LIVE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616154"/>
            <a:ext cx="6439495" cy="1764625"/>
          </a:xfrm>
          <a:prstGeom prst="roundRect">
            <a:avLst>
              <a:gd name="adj" fmla="val 1639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6552" y="1808917"/>
            <a:ext cx="835104" cy="343614"/>
          </a:xfrm>
          <a:prstGeom prst="roundRect">
            <a:avLst>
              <a:gd name="adj" fmla="val 6733"/>
            </a:avLst>
          </a:prstGeom>
          <a:solidFill>
            <a:srgbClr val="E7E7E4"/>
          </a:solidFill>
          <a:ln/>
        </p:spPr>
      </p:sp>
      <p:sp>
        <p:nvSpPr>
          <p:cNvPr id="5" name="Text 3"/>
          <p:cNvSpPr/>
          <p:nvPr/>
        </p:nvSpPr>
        <p:spPr>
          <a:xfrm>
            <a:off x="1102162" y="1866662"/>
            <a:ext cx="603885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SCÈNE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6552" y="2218015"/>
            <a:ext cx="290143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L'EMPLOYÉ TRAVAILLE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6552" y="2617470"/>
            <a:ext cx="605397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client-user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Firefox → Intranet + Netdata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97115" y="1616154"/>
            <a:ext cx="6439495" cy="1764625"/>
          </a:xfrm>
          <a:prstGeom prst="roundRect">
            <a:avLst>
              <a:gd name="adj" fmla="val 1639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589877" y="1808917"/>
            <a:ext cx="835104" cy="343614"/>
          </a:xfrm>
          <a:prstGeom prst="roundRect">
            <a:avLst>
              <a:gd name="adj" fmla="val 6733"/>
            </a:avLst>
          </a:prstGeom>
          <a:solidFill>
            <a:srgbClr val="E7E7E4"/>
          </a:solidFill>
          <a:ln/>
        </p:spPr>
      </p:sp>
      <p:sp>
        <p:nvSpPr>
          <p:cNvPr id="10" name="Text 8"/>
          <p:cNvSpPr/>
          <p:nvPr/>
        </p:nvSpPr>
        <p:spPr>
          <a:xfrm>
            <a:off x="7705487" y="1866662"/>
            <a:ext cx="603885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SCÈNE 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877" y="2218015"/>
            <a:ext cx="329195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SURVEILLANCE ACTIVÉE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589877" y="2617470"/>
            <a:ext cx="605397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srv-main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monitor-live.sh lancé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790" y="3544610"/>
            <a:ext cx="6439495" cy="2049899"/>
          </a:xfrm>
          <a:prstGeom prst="roundRect">
            <a:avLst>
              <a:gd name="adj" fmla="val 141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86552" y="3737372"/>
            <a:ext cx="835104" cy="343614"/>
          </a:xfrm>
          <a:prstGeom prst="roundRect">
            <a:avLst>
              <a:gd name="adj" fmla="val 6733"/>
            </a:avLst>
          </a:prstGeom>
          <a:solidFill>
            <a:srgbClr val="E7E7E4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162" y="3795117"/>
            <a:ext cx="603885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SCÈNE 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6552" y="4146471"/>
            <a:ext cx="249828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RECONNAISSANCE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986552" y="4545925"/>
            <a:ext cx="605397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kali-attack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nmap -sV 10.0.0.2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97115" y="3544610"/>
            <a:ext cx="6439495" cy="2049899"/>
          </a:xfrm>
          <a:prstGeom prst="roundRect">
            <a:avLst>
              <a:gd name="adj" fmla="val 141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589877" y="3737372"/>
            <a:ext cx="835104" cy="343614"/>
          </a:xfrm>
          <a:prstGeom prst="roundRect">
            <a:avLst>
              <a:gd name="adj" fmla="val 6733"/>
            </a:avLst>
          </a:prstGeom>
          <a:solidFill>
            <a:srgbClr val="E7E7E4"/>
          </a:solidFill>
          <a:ln/>
        </p:spPr>
      </p:sp>
      <p:sp>
        <p:nvSpPr>
          <p:cNvPr id="20" name="Text 18"/>
          <p:cNvSpPr/>
          <p:nvPr/>
        </p:nvSpPr>
        <p:spPr>
          <a:xfrm>
            <a:off x="7705487" y="3795117"/>
            <a:ext cx="603885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SCÈNE 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877" y="414647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ATTAQUE SSH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7589877" y="4545925"/>
            <a:ext cx="6053971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kali-attack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hydra brute-force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ssh://10.0.0.2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3790" y="5778817"/>
            <a:ext cx="4238387" cy="1764625"/>
          </a:xfrm>
          <a:prstGeom prst="roundRect">
            <a:avLst>
              <a:gd name="adj" fmla="val 1639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86552" y="5971580"/>
            <a:ext cx="835104" cy="343614"/>
          </a:xfrm>
          <a:prstGeom prst="roundRect">
            <a:avLst>
              <a:gd name="adj" fmla="val 6733"/>
            </a:avLst>
          </a:prstGeom>
          <a:solidFill>
            <a:srgbClr val="E7E7E4"/>
          </a:solidFill>
          <a:ln/>
        </p:spPr>
      </p:sp>
      <p:sp>
        <p:nvSpPr>
          <p:cNvPr id="25" name="Text 23"/>
          <p:cNvSpPr/>
          <p:nvPr/>
        </p:nvSpPr>
        <p:spPr>
          <a:xfrm>
            <a:off x="1102162" y="6029325"/>
            <a:ext cx="603885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SCÈNE 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6552" y="638067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DÉTECTION &amp; BAN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986552" y="6780133"/>
            <a:ext cx="38528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srv-main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[ALERTE]→[BAN] 10.0.0.3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196007" y="5778817"/>
            <a:ext cx="4238387" cy="1764625"/>
          </a:xfrm>
          <a:prstGeom prst="roundRect">
            <a:avLst>
              <a:gd name="adj" fmla="val 1639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88769" y="5971580"/>
            <a:ext cx="835104" cy="343614"/>
          </a:xfrm>
          <a:prstGeom prst="roundRect">
            <a:avLst>
              <a:gd name="adj" fmla="val 6733"/>
            </a:avLst>
          </a:prstGeom>
          <a:solidFill>
            <a:srgbClr val="E7E7E4"/>
          </a:solidFill>
          <a:ln/>
        </p:spPr>
      </p:sp>
      <p:sp>
        <p:nvSpPr>
          <p:cNvPr id="30" name="Text 28"/>
          <p:cNvSpPr/>
          <p:nvPr/>
        </p:nvSpPr>
        <p:spPr>
          <a:xfrm>
            <a:off x="5504378" y="6029325"/>
            <a:ext cx="603885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SCÈNE 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88769" y="6380678"/>
            <a:ext cx="268807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SERVICE MAINTENU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5388769" y="6780133"/>
            <a:ext cx="38528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client-user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Intranet toujours accessible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598223" y="5778817"/>
            <a:ext cx="4238387" cy="1764625"/>
          </a:xfrm>
          <a:prstGeom prst="roundRect">
            <a:avLst>
              <a:gd name="adj" fmla="val 1639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790986" y="5971580"/>
            <a:ext cx="835104" cy="343614"/>
          </a:xfrm>
          <a:prstGeom prst="roundRect">
            <a:avLst>
              <a:gd name="adj" fmla="val 6733"/>
            </a:avLst>
          </a:prstGeom>
          <a:solidFill>
            <a:srgbClr val="E7E7E4"/>
          </a:solidFill>
          <a:ln/>
        </p:spPr>
      </p:sp>
      <p:sp>
        <p:nvSpPr>
          <p:cNvPr id="35" name="Text 33"/>
          <p:cNvSpPr/>
          <p:nvPr/>
        </p:nvSpPr>
        <p:spPr>
          <a:xfrm>
            <a:off x="9906595" y="6029325"/>
            <a:ext cx="603885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SCÈNE 07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790986" y="6380678"/>
            <a:ext cx="289571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RAPPORT D'INCIDENT</a:t>
            </a:r>
            <a:endParaRPr lang="en-US" sz="1850" dirty="0"/>
          </a:p>
        </p:txBody>
      </p:sp>
      <p:sp>
        <p:nvSpPr>
          <p:cNvPr id="37" name="Text 35"/>
          <p:cNvSpPr/>
          <p:nvPr/>
        </p:nvSpPr>
        <p:spPr>
          <a:xfrm>
            <a:off x="9790986" y="6780133"/>
            <a:ext cx="38528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srv-main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rapport-incident.sh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7754"/>
            <a:ext cx="60394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RÉSULTATS &amp; BILAN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40161"/>
            <a:ext cx="6407944" cy="1722239"/>
          </a:xfrm>
          <a:prstGeom prst="roundRect">
            <a:avLst>
              <a:gd name="adj" fmla="val 1976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497455"/>
            <a:ext cx="29258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Réseau simple 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82F6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X4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2987873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 réseaux Host-only, plan IP LAN/WAN, 3 machines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240161"/>
            <a:ext cx="6408063" cy="1722239"/>
          </a:xfrm>
          <a:prstGeom prst="roundRect">
            <a:avLst>
              <a:gd name="adj" fmla="val 1976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2497455"/>
            <a:ext cx="58934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Infrastructure client-serveur 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82F6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X4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5842" y="3342203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DHCP, DNS bind9, Apache2 LAN et WAN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189214"/>
            <a:ext cx="6407944" cy="1367909"/>
          </a:xfrm>
          <a:prstGeom prst="roundRect">
            <a:avLst>
              <a:gd name="adj" fmla="val 2487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4446508"/>
            <a:ext cx="48453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Administration système 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82F6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X4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084" y="493692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Ubuntu Server 24.04, netplan, systemd, scripts bash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189214"/>
            <a:ext cx="6408063" cy="1367909"/>
          </a:xfrm>
          <a:prstGeom prst="roundRect">
            <a:avLst>
              <a:gd name="adj" fmla="val 2487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4446508"/>
            <a:ext cx="52748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Virtualisation &amp; maquette 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82F6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X3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4936927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 VMs VirtualBox, segmentation réaliste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783937"/>
            <a:ext cx="6407944" cy="1367909"/>
          </a:xfrm>
          <a:prstGeom prst="roundRect">
            <a:avLst>
              <a:gd name="adj" fmla="val 2487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084" y="6041231"/>
            <a:ext cx="28579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Sécurisation 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82F6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X3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084" y="6531650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UFW par interface, Fail2ban auto, SSH hardening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5783937"/>
            <a:ext cx="6408063" cy="1367909"/>
          </a:xfrm>
          <a:prstGeom prst="roundRect">
            <a:avLst>
              <a:gd name="adj" fmla="val 2487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5842" y="6041231"/>
            <a:ext cx="50996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Documentation technique 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82F6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X3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85842" y="6531650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Doc complète avec captures et commandes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59813"/>
            <a:ext cx="2946202" cy="358854"/>
          </a:xfrm>
          <a:prstGeom prst="roundRect">
            <a:avLst>
              <a:gd name="adj" fmla="val 6447"/>
            </a:avLst>
          </a:prstGeom>
          <a:noFill/>
          <a:ln w="7620">
            <a:solidFill>
              <a:srgbClr val="1E1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7019" y="1425178"/>
            <a:ext cx="2699742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ORGANISATION &amp; RÉPARTITION DU TRAVAIL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3790" y="206680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 FLORENCE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52343"/>
            <a:ext cx="1950720" cy="1950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687372"/>
            <a:ext cx="4033599" cy="165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Déploiement complet des 3 VMs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Configuration réseau (netplan 3 interfaces)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Installation de tous les services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Développement des 3 scripts bash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Tests, démo et dépannage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05306" y="206680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 MARLY</a:t>
            </a:r>
            <a:endParaRPr lang="en-US" sz="1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306" y="2552343"/>
            <a:ext cx="1950720" cy="1950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5306" y="4687372"/>
            <a:ext cx="4033599" cy="131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Recherches architecture réseau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Rédaction sections technique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Plan d'adressage IP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Préparation présentation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816822" y="206680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 SARAH</a:t>
            </a:r>
            <a:endParaRPr lang="en-US" sz="1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6822" y="2552343"/>
            <a:ext cx="1950720" cy="19507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16822" y="4687372"/>
            <a:ext cx="4033599" cy="131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Recherches Fail2ban / UFW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Rédaction sections sécurité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Conception scénario de démo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Présentation orale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93790" y="6584394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Infrastructure déployée sur le PC de Florence (Windows 11 + VirtualBox) — Documentation rédigée collectivement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0227"/>
            <a:ext cx="68785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CE QU'ON A APPRIS &amp; AXES D'AMÉLIORATION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93790" y="1809869"/>
            <a:ext cx="3008948" cy="2538770"/>
          </a:xfrm>
          <a:prstGeom prst="roundRect">
            <a:avLst>
              <a:gd name="adj" fmla="val 1340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067163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RÉSEAU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2648307"/>
            <a:ext cx="24943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 segmentation LAN/WAN est fondamentale — prouvée concrètement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029551" y="1809869"/>
            <a:ext cx="3008948" cy="2538770"/>
          </a:xfrm>
          <a:prstGeom prst="roundRect">
            <a:avLst>
              <a:gd name="adj" fmla="val 1340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86845" y="2067163"/>
            <a:ext cx="249435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ADMIN SYSTÈME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86845" y="3002637"/>
            <a:ext cx="24943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Ubuntu Server en CLI, netplan 3 interfaces, systemd, scripts bash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575453"/>
            <a:ext cx="3008948" cy="2538770"/>
          </a:xfrm>
          <a:prstGeom prst="roundRect">
            <a:avLst>
              <a:gd name="adj" fmla="val 1340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4832747"/>
            <a:ext cx="249435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CYBERSÉCURITÉ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084" y="5768221"/>
            <a:ext cx="24943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Utiliser les outils d'un attaquant (Kali) pour valider sa propre sécurité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4029551" y="4575453"/>
            <a:ext cx="3008948" cy="2538770"/>
          </a:xfrm>
          <a:prstGeom prst="roundRect">
            <a:avLst>
              <a:gd name="adj" fmla="val 1340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86845" y="4832747"/>
            <a:ext cx="249435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AUTOMATISATION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86845" y="5768221"/>
            <a:ext cx="24943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Scripts bash + cron = traçabilité continue sans intervention humaine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1781532"/>
            <a:ext cx="434863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AXES D'AMÉLIORATION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7599521" y="2433638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Certificat TLS (HTTPS) sur Apache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VPN pour accès distant sécurisé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DMZ pour isoler les services exposés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Alertes mail automatiques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37999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MERCI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2895838"/>
            <a:ext cx="610290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C9A7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POUR VOTRE ATTENTION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380297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MiniSOC StartupX — Infrastructure segmentée avec détection d'intrusion en temps réel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783931"/>
            <a:ext cx="75564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Segmentation LAN/WAN opérationnelle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Fail2ban — bannissement automatique prouvé en live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Continuité de service maintenue pendant l'attaque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Stack 100% open source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72857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Florence Kore-Belle • Marly Dedjiho • Sarah Bouhadra | Ynov Campus B1 | Avril 2026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2026-04-14T08:21:41Z</dcterms:created>
  <dcterms:modified xsi:type="dcterms:W3CDTF">2026-04-14T08:21:41Z</dcterms:modified>
</cp:coreProperties>
</file>